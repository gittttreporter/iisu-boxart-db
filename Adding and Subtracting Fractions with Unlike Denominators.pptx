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Sue Ellen Francisco"/>
      <p:regular r:id="rId14"/>
    </p:embeddedFont>
    <p:embeddedFont>
      <p:font typeface="Didact Gothic"/>
      <p:regular r:id="rId15"/>
    </p:embeddedFont>
    <p:embeddedFont>
      <p:font typeface="Josefi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DidactGothic-regular.fntdata"/><Relationship Id="rId14" Type="http://schemas.openxmlformats.org/officeDocument/2006/relationships/font" Target="fonts/SueEllenFrancisco-regular.fntdata"/><Relationship Id="rId17" Type="http://schemas.openxmlformats.org/officeDocument/2006/relationships/font" Target="fonts/JosefinSans-bold.fntdata"/><Relationship Id="rId16" Type="http://schemas.openxmlformats.org/officeDocument/2006/relationships/font" Target="fonts/JosefinSans-regular.fntdata"/><Relationship Id="rId5" Type="http://schemas.openxmlformats.org/officeDocument/2006/relationships/slide" Target="slides/slide1.xml"/><Relationship Id="rId19" Type="http://schemas.openxmlformats.org/officeDocument/2006/relationships/font" Target="fonts/JosefinSans-boldItalic.fntdata"/><Relationship Id="rId6" Type="http://schemas.openxmlformats.org/officeDocument/2006/relationships/slide" Target="slides/slide2.xml"/><Relationship Id="rId18" Type="http://schemas.openxmlformats.org/officeDocument/2006/relationships/font" Target="fonts/Josefi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quizizz.com/admin/quiz/58c053bd2f772c1d182743f0" TargetMode="External"/><Relationship Id="rId3" Type="http://schemas.openxmlformats.org/officeDocument/2006/relationships/hyperlink" Target="https://quizizz.com/admin/quiz/57f6a5fb0fd7fc0a3cab9a28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EB-2fco29gebWRtzCVrjn4a3QrqMxxk9UvQxPe35AZE/edit#slide=id.g24323fc353_0_51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Title of Hyperdoc-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ee0538f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ee0538f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Hyperlinks to each section here…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Explanation of pencil icon and others if necessary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ef5ea1bf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ef5ea1bf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7c72d5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7c72d5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ee0538f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ee0538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Quizizz links: </a:t>
            </a:r>
            <a:r>
              <a:rPr lang="en" sz="1200" u="sng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  <a:hlinkClick r:id="rId2"/>
              </a:rPr>
              <a:t>https://quizizz.com/admin/quiz/58c053bd2f772c1d182743f0</a:t>
            </a:r>
            <a:r>
              <a:rPr lang="en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		</a:t>
            </a:r>
            <a:r>
              <a:rPr lang="en" sz="1200" u="sng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  <a:hlinkClick r:id="rId3"/>
              </a:rPr>
              <a:t>https://quizizz.com/admin/quiz/57f6a5fb0fd7fc0a3cab9a28</a:t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ee0538f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eee0538f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  <a:hlinkClick r:id="rId2"/>
              </a:rPr>
              <a:t>https://docs.google.com/presentation/d/1EB-2fco29gebWRtzCVrjn4a3QrqMxxk9UvQxPe35AZE/edit#slide=id.g24323fc353_0_51</a:t>
            </a: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 : This is the instructions for step by step Alice Keeler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Flipgrid: The teacher needs to create an account to flipgrid at flipgrid.com.  Then link your topic to this slide.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f5ea1bf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ef5ea1bf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Collect student work to provide feedback, and/or include a section for students to </a:t>
            </a:r>
            <a:r>
              <a:rPr b="1" lang="en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share</a:t>
            </a:r>
            <a:r>
              <a:rPr lang="en" sz="12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 work with an authentic audience. </a:t>
            </a: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Have links to various types students can share their DOK… Depth of Knowledge. Padlet, Flipgrid, Recap, Google Drawings, screencastify, Seesaw… just to name a few.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ee0538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eee0538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ef5ea1bf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ef5ea1bf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6.gif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hyperlink" Target="https://2.bp.blogspot.com/-etdu2x7vzuo/V3KiAWGGqXI/AAAAAAAAV08/Fph2wVwJjGcQQeb-uBOWcvvM0cVWOxPLACLcB/s300-c/What%2Bis%2Ba%2BHyperDoc%2Bsketchnote%2Bby%2B%2540teachermomoftwo.png" TargetMode="External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10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10" Type="http://schemas.openxmlformats.org/officeDocument/2006/relationships/image" Target="../media/image3.jpg"/><Relationship Id="rId9" Type="http://schemas.openxmlformats.org/officeDocument/2006/relationships/hyperlink" Target="http://www.youtube.com/watch?v=5ErbhuP7mr8" TargetMode="External"/><Relationship Id="rId5" Type="http://schemas.openxmlformats.org/officeDocument/2006/relationships/hyperlink" Target="http://www.youtube.com/watch?v=GFGlgSfQ-Gk" TargetMode="External"/><Relationship Id="rId6" Type="http://schemas.openxmlformats.org/officeDocument/2006/relationships/image" Target="../media/image9.jpg"/><Relationship Id="rId7" Type="http://schemas.openxmlformats.org/officeDocument/2006/relationships/hyperlink" Target="http://www.youtube.com/watch?v=5juto2ze8Lg" TargetMode="External"/><Relationship Id="rId8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hyperlink" Target="http://drive.google.com/file/d/0By4-MD1QPdgJUmpLcVIyWWJUMzA/view" TargetMode="External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Relationship Id="rId5" Type="http://schemas.openxmlformats.org/officeDocument/2006/relationships/hyperlink" Target="https://quizizz.com/join/" TargetMode="External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10" Type="http://schemas.openxmlformats.org/officeDocument/2006/relationships/image" Target="../media/image20.png"/><Relationship Id="rId9" Type="http://schemas.openxmlformats.org/officeDocument/2006/relationships/image" Target="../media/image30.png"/><Relationship Id="rId5" Type="http://schemas.openxmlformats.org/officeDocument/2006/relationships/hyperlink" Target="https://chrome.google.com/webstore/detail/alice-keeler-webcam-recor/ljkchdmiefjpclcpniabljokcaedooaa?hl=en" TargetMode="External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hyperlink" Target="http://www.flipgrid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4.png"/><Relationship Id="rId5" Type="http://schemas.openxmlformats.org/officeDocument/2006/relationships/image" Target="../media/image23.gif"/><Relationship Id="rId6" Type="http://schemas.openxmlformats.org/officeDocument/2006/relationships/hyperlink" Target="https://web.seesaw.me/" TargetMode="External"/><Relationship Id="rId7" Type="http://schemas.openxmlformats.org/officeDocument/2006/relationships/image" Target="../media/image37.png"/><Relationship Id="rId8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24.png"/><Relationship Id="rId13" Type="http://schemas.openxmlformats.org/officeDocument/2006/relationships/image" Target="../media/image32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Relationship Id="rId15" Type="http://schemas.openxmlformats.org/officeDocument/2006/relationships/image" Target="../media/image28.png"/><Relationship Id="rId1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amazon.com/HyperDoc-Handbook-Digital-Lesson-Design/dp/1945167009" TargetMode="External"/><Relationship Id="rId4" Type="http://schemas.openxmlformats.org/officeDocument/2006/relationships/image" Target="../media/image31.jpg"/><Relationship Id="rId9" Type="http://schemas.openxmlformats.org/officeDocument/2006/relationships/image" Target="../media/image33.png"/><Relationship Id="rId5" Type="http://schemas.openxmlformats.org/officeDocument/2006/relationships/hyperlink" Target="https://www.amazon.com/HyperDoc-Handbook-Digital-Lesson-Design/dp/1945167009" TargetMode="External"/><Relationship Id="rId6" Type="http://schemas.openxmlformats.org/officeDocument/2006/relationships/hyperlink" Target="http://www.fttechtips.com" TargetMode="External"/><Relationship Id="rId7" Type="http://schemas.openxmlformats.org/officeDocument/2006/relationships/image" Target="../media/image38.png"/><Relationship Id="rId8" Type="http://schemas.openxmlformats.org/officeDocument/2006/relationships/hyperlink" Target="http://www.hyperdocs.co/teachers_give_teach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actions.gif" id="54" name="Google Shape;54;p13"/>
          <p:cNvPicPr preferRelativeResize="0"/>
          <p:nvPr/>
        </p:nvPicPr>
        <p:blipFill rotWithShape="1">
          <a:blip r:embed="rId4">
            <a:alphaModFix/>
          </a:blip>
          <a:srcRect b="16072" l="0" r="0" t="0"/>
          <a:stretch/>
        </p:blipFill>
        <p:spPr>
          <a:xfrm>
            <a:off x="-76200" y="2482400"/>
            <a:ext cx="4335750" cy="11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 rot="-470152">
            <a:off x="3329440" y="3222189"/>
            <a:ext cx="5956619" cy="2363564"/>
          </a:xfrm>
          <a:prstGeom prst="rect">
            <a:avLst/>
          </a:prstGeom>
          <a:solidFill>
            <a:srgbClr val="BF9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3200" y="-786925"/>
            <a:ext cx="5299400" cy="529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358200">
            <a:off x="7685300" y="3521300"/>
            <a:ext cx="2037200" cy="20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843925" y="1091850"/>
            <a:ext cx="3571500" cy="21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Lesson Objective:  I can add and subtract fractions with unlike denominators, including mixed numbers.</a:t>
            </a:r>
            <a:endParaRPr sz="2400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9" name="Google Shape;59;p13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62361" l="7300" r="13428" t="16792"/>
          <a:stretch/>
        </p:blipFill>
        <p:spPr>
          <a:xfrm>
            <a:off x="209275" y="3969724"/>
            <a:ext cx="2902200" cy="6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0" y="4656975"/>
            <a:ext cx="9144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ue Ellen Francisco"/>
                <a:ea typeface="Sue Ellen Francisco"/>
                <a:cs typeface="Sue Ellen Francisco"/>
                <a:sym typeface="Sue Ellen Francisco"/>
              </a:rPr>
              <a:t>@nadinegilkison                                                             </a:t>
            </a:r>
            <a:endParaRPr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55525" y="50925"/>
            <a:ext cx="4180230" cy="24314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FF"/>
                </a:solidFill>
                <a:latin typeface="Comic Sans MS"/>
              </a:rPr>
              <a:t>Adding</a:t>
            </a:r>
            <a:br>
              <a:rPr b="1" i="0">
                <a:ln cap="flat" cmpd="sng" w="9525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FF"/>
                </a:solidFill>
                <a:latin typeface="Comic Sans MS"/>
              </a:rPr>
            </a:br>
            <a:r>
              <a:rPr b="1" i="0">
                <a:ln cap="flat" cmpd="sng" w="9525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FF"/>
                </a:solidFill>
                <a:latin typeface="Comic Sans MS"/>
              </a:rPr>
              <a:t>and</a:t>
            </a:r>
            <a:br>
              <a:rPr b="1" i="0">
                <a:ln cap="flat" cmpd="sng" w="9525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FF"/>
                </a:solidFill>
                <a:latin typeface="Comic Sans MS"/>
              </a:rPr>
            </a:br>
            <a:r>
              <a:rPr b="1" i="0">
                <a:ln cap="flat" cmpd="sng" w="9525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FF"/>
                </a:solidFill>
                <a:latin typeface="Comic Sans MS"/>
              </a:rPr>
              <a:t>Subtracting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5575025" y="214275"/>
            <a:ext cx="3569100" cy="90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12575" y="1117825"/>
            <a:ext cx="3307500" cy="1318950"/>
            <a:chOff x="12575" y="1117825"/>
            <a:chExt cx="3307500" cy="1318950"/>
          </a:xfrm>
        </p:grpSpPr>
        <p:sp>
          <p:nvSpPr>
            <p:cNvPr id="68" name="Google Shape;68;p14"/>
            <p:cNvSpPr/>
            <p:nvPr/>
          </p:nvSpPr>
          <p:spPr>
            <a:xfrm>
              <a:off x="12575" y="1381200"/>
              <a:ext cx="3307500" cy="918000"/>
            </a:xfrm>
            <a:prstGeom prst="homePlate">
              <a:avLst>
                <a:gd fmla="val 50000" name="adj"/>
              </a:avLst>
            </a:prstGeom>
            <a:solidFill>
              <a:srgbClr val="0000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Sue Ellen Francisco"/>
                  <a:ea typeface="Sue Ellen Francisco"/>
                  <a:cs typeface="Sue Ellen Francisco"/>
                  <a:sym typeface="Sue Ellen Francisco"/>
                </a:rPr>
                <a:t>Explore</a:t>
              </a:r>
              <a:endParaRPr sz="6000">
                <a:latin typeface="Sue Ellen Francisco"/>
                <a:ea typeface="Sue Ellen Francisco"/>
                <a:cs typeface="Sue Ellen Francisco"/>
                <a:sym typeface="Sue Ellen Francisco"/>
              </a:endParaRPr>
            </a:p>
          </p:txBody>
        </p:sp>
        <p:pic>
          <p:nvPicPr>
            <p:cNvPr id="69" name="Google Shape;69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9125" y="1117825"/>
              <a:ext cx="1318950" cy="1318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" name="Google Shape;70;p14"/>
          <p:cNvGrpSpPr/>
          <p:nvPr/>
        </p:nvGrpSpPr>
        <p:grpSpPr>
          <a:xfrm>
            <a:off x="3441575" y="1125825"/>
            <a:ext cx="3307500" cy="1428750"/>
            <a:chOff x="3441575" y="1125825"/>
            <a:chExt cx="3307500" cy="1428750"/>
          </a:xfrm>
        </p:grpSpPr>
        <p:sp>
          <p:nvSpPr>
            <p:cNvPr id="71" name="Google Shape;71;p14"/>
            <p:cNvSpPr/>
            <p:nvPr/>
          </p:nvSpPr>
          <p:spPr>
            <a:xfrm>
              <a:off x="3441575" y="1381200"/>
              <a:ext cx="3307500" cy="918000"/>
            </a:xfrm>
            <a:prstGeom prst="homePlate">
              <a:avLst>
                <a:gd fmla="val 50000" name="adj"/>
              </a:avLst>
            </a:prstGeom>
            <a:solidFill>
              <a:srgbClr val="FF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Sue Ellen Francisco"/>
                  <a:ea typeface="Sue Ellen Francisco"/>
                  <a:cs typeface="Sue Ellen Francisco"/>
                  <a:sym typeface="Sue Ellen Francisco"/>
                </a:rPr>
                <a:t>Explain</a:t>
              </a:r>
              <a:endParaRPr sz="6000">
                <a:latin typeface="Sue Ellen Francisco"/>
                <a:ea typeface="Sue Ellen Francisco"/>
                <a:cs typeface="Sue Ellen Francisco"/>
                <a:sym typeface="Sue Ellen Francisco"/>
              </a:endParaRPr>
            </a:p>
          </p:txBody>
        </p:sp>
        <p:pic>
          <p:nvPicPr>
            <p:cNvPr id="72" name="Google Shape;72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11325" y="1125825"/>
              <a:ext cx="1428750" cy="1428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" name="Google Shape;73;p14"/>
          <p:cNvGrpSpPr/>
          <p:nvPr/>
        </p:nvGrpSpPr>
        <p:grpSpPr>
          <a:xfrm>
            <a:off x="12575" y="2286000"/>
            <a:ext cx="3307500" cy="1428750"/>
            <a:chOff x="12575" y="2286000"/>
            <a:chExt cx="3307500" cy="1428750"/>
          </a:xfrm>
        </p:grpSpPr>
        <p:sp>
          <p:nvSpPr>
            <p:cNvPr id="74" name="Google Shape;74;p14"/>
            <p:cNvSpPr/>
            <p:nvPr/>
          </p:nvSpPr>
          <p:spPr>
            <a:xfrm>
              <a:off x="12575" y="2600400"/>
              <a:ext cx="3307500" cy="918000"/>
            </a:xfrm>
            <a:prstGeom prst="homePlate">
              <a:avLst>
                <a:gd fmla="val 50000" name="adj"/>
              </a:avLst>
            </a:prstGeom>
            <a:solidFill>
              <a:srgbClr val="FFFF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Sue Ellen Francisco"/>
                  <a:ea typeface="Sue Ellen Francisco"/>
                  <a:cs typeface="Sue Ellen Francisco"/>
                  <a:sym typeface="Sue Ellen Francisco"/>
                </a:rPr>
                <a:t>       Apply</a:t>
              </a:r>
              <a:endParaRPr sz="6000">
                <a:latin typeface="Sue Ellen Francisco"/>
                <a:ea typeface="Sue Ellen Francisco"/>
                <a:cs typeface="Sue Ellen Francisco"/>
                <a:sym typeface="Sue Ellen Francisco"/>
              </a:endParaRPr>
            </a:p>
          </p:txBody>
        </p:sp>
        <p:pic>
          <p:nvPicPr>
            <p:cNvPr id="75" name="Google Shape;75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550" y="2286000"/>
              <a:ext cx="1428750" cy="1428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" name="Google Shape;76;p14"/>
          <p:cNvGrpSpPr/>
          <p:nvPr/>
        </p:nvGrpSpPr>
        <p:grpSpPr>
          <a:xfrm>
            <a:off x="3441575" y="2447825"/>
            <a:ext cx="3307500" cy="1223150"/>
            <a:chOff x="3441575" y="2447825"/>
            <a:chExt cx="3307500" cy="1223150"/>
          </a:xfrm>
        </p:grpSpPr>
        <p:sp>
          <p:nvSpPr>
            <p:cNvPr id="77" name="Google Shape;77;p14"/>
            <p:cNvSpPr/>
            <p:nvPr/>
          </p:nvSpPr>
          <p:spPr>
            <a:xfrm>
              <a:off x="3441575" y="2600400"/>
              <a:ext cx="3307500" cy="918000"/>
            </a:xfrm>
            <a:prstGeom prst="homePlate">
              <a:avLst>
                <a:gd fmla="val 50000" name="adj"/>
              </a:avLst>
            </a:prstGeom>
            <a:solidFill>
              <a:srgbClr val="00FF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Sue Ellen Francisco"/>
                  <a:ea typeface="Sue Ellen Francisco"/>
                  <a:cs typeface="Sue Ellen Francisco"/>
                  <a:sym typeface="Sue Ellen Francisco"/>
                </a:rPr>
                <a:t>       Create</a:t>
              </a:r>
              <a:endParaRPr sz="6000">
                <a:latin typeface="Sue Ellen Francisco"/>
                <a:ea typeface="Sue Ellen Francisco"/>
                <a:cs typeface="Sue Ellen Francisco"/>
                <a:sym typeface="Sue Ellen Francisco"/>
              </a:endParaRPr>
            </a:p>
          </p:txBody>
        </p:sp>
        <p:pic>
          <p:nvPicPr>
            <p:cNvPr id="78" name="Google Shape;78;p1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539675" y="2447825"/>
              <a:ext cx="1120275" cy="1223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14"/>
          <p:cNvSpPr txBox="1"/>
          <p:nvPr/>
        </p:nvSpPr>
        <p:spPr>
          <a:xfrm>
            <a:off x="71300" y="214275"/>
            <a:ext cx="6857100" cy="907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rPr>
              <a:t>5.C.4: Add and subtract fractions with unlike denominators, including mixed numbers.</a:t>
            </a:r>
            <a:endParaRPr b="1" sz="1800">
              <a:solidFill>
                <a:srgbClr val="FFFFFF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8">
            <a:alphaModFix/>
          </a:blip>
          <a:srcRect b="0" l="0" r="0" t="20810"/>
          <a:stretch/>
        </p:blipFill>
        <p:spPr>
          <a:xfrm rot="-220391">
            <a:off x="6669267" y="-41742"/>
            <a:ext cx="2411441" cy="1909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50063">
            <a:off x="7845488" y="282750"/>
            <a:ext cx="864450" cy="9584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 rot="-242743">
            <a:off x="7004217" y="314934"/>
            <a:ext cx="982248" cy="4748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Indiana</a:t>
            </a:r>
            <a:endParaRPr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State </a:t>
            </a:r>
            <a:endParaRPr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Standards within Hyperdoc</a:t>
            </a:r>
            <a:endParaRPr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6972350" y="2722025"/>
            <a:ext cx="1976100" cy="20883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If you see this icon, you are to type in the text box.</a:t>
            </a:r>
            <a:endParaRPr sz="2400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46025" y="2345025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12575" y="314400"/>
            <a:ext cx="3307500" cy="918000"/>
          </a:xfrm>
          <a:prstGeom prst="homePlat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      </a:t>
            </a: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Explore</a:t>
            </a:r>
            <a:endParaRPr sz="6000"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5" y="113925"/>
            <a:ext cx="1318950" cy="131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get finding common denominators when adding dissimilar fractions - this way is much faster and easier. This video also looks at how to deal with mixed numbers and simplification." id="91" name="Google Shape;91;p15" title="Fractions addition and subtraction trick - do them the fast way!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0509" y="1957625"/>
            <a:ext cx="2045450" cy="153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arn More at mathantics.com&#10;Visit http://www.mathantics.com for more Free math videos and additional subscription based content!" id="92" name="Google Shape;92;p15" title="Math Antics - Adding and Subtracting Fractions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1931775"/>
            <a:ext cx="2114425" cy="15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95025" y="3670525"/>
            <a:ext cx="29421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Add and Subtract Fractions with unlike denominators</a:t>
            </a:r>
            <a:endParaRPr sz="1600"/>
          </a:p>
        </p:txBody>
      </p:sp>
      <p:sp>
        <p:nvSpPr>
          <p:cNvPr id="94" name="Google Shape;94;p15"/>
          <p:cNvSpPr txBox="1"/>
          <p:nvPr/>
        </p:nvSpPr>
        <p:spPr>
          <a:xfrm>
            <a:off x="5390925" y="3670525"/>
            <a:ext cx="34467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Add and Subtract Mixed Numbers with unlike denominators</a:t>
            </a:r>
            <a:endParaRPr sz="1600"/>
          </a:p>
        </p:txBody>
      </p:sp>
      <p:pic>
        <p:nvPicPr>
          <p:cNvPr descr="Forget finding common denominators when adding dissimilar fractions - this way is much faster and easier. This video also looks at how to deal with mixed numbers and simplification.  This cool math trick will have you adding fractions like a genius!" id="95" name="Google Shape;95;p15" title="Fractions addition and subtraction the fast way with mixed numbers - cool math trick!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38400" y="1957625"/>
            <a:ext cx="2209525" cy="15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12575" y="314400"/>
            <a:ext cx="3307500" cy="918000"/>
          </a:xfrm>
          <a:prstGeom prst="homePlate">
            <a:avLst>
              <a:gd fmla="val 50000" name="adj"/>
            </a:avLst>
          </a:prstGeom>
          <a:solidFill>
            <a:srgbClr val="0000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      Explore</a:t>
            </a:r>
            <a:endParaRPr sz="6000"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5" y="113925"/>
            <a:ext cx="1318950" cy="13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title="Sep 28, 2017 11:08 AM.web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8050" y="1120525"/>
            <a:ext cx="5155375" cy="386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37250" y="2068875"/>
            <a:ext cx="2917500" cy="1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This is a real world example of subtracting mixed numbers.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12575" y="314400"/>
            <a:ext cx="3307500" cy="918000"/>
          </a:xfrm>
          <a:prstGeom prst="homePlate">
            <a:avLst>
              <a:gd fmla="val 50000" name="adj"/>
            </a:avLst>
          </a:prstGeom>
          <a:solidFill>
            <a:srgbClr val="FFFF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       </a:t>
            </a: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Apply</a:t>
            </a:r>
            <a:endParaRPr sz="6000"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50" y="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75" y="3555750"/>
            <a:ext cx="4137074" cy="1199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7"/>
          <p:cNvGrpSpPr/>
          <p:nvPr/>
        </p:nvGrpSpPr>
        <p:grpSpPr>
          <a:xfrm>
            <a:off x="4143716" y="510775"/>
            <a:ext cx="4939350" cy="1212050"/>
            <a:chOff x="4300253" y="534550"/>
            <a:chExt cx="4939350" cy="1212050"/>
          </a:xfrm>
        </p:grpSpPr>
        <p:cxnSp>
          <p:nvCxnSpPr>
            <p:cNvPr id="112" name="Google Shape;112;p17"/>
            <p:cNvCxnSpPr/>
            <p:nvPr/>
          </p:nvCxnSpPr>
          <p:spPr>
            <a:xfrm rot="10800000">
              <a:off x="8640803" y="1140575"/>
              <a:ext cx="598800" cy="0"/>
            </a:xfrm>
            <a:prstGeom prst="straightConnector1">
              <a:avLst/>
            </a:prstGeom>
            <a:noFill/>
            <a:ln cap="flat" cmpd="sng" w="1143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3" name="Google Shape;113;p17"/>
            <p:cNvGrpSpPr/>
            <p:nvPr/>
          </p:nvGrpSpPr>
          <p:grpSpPr>
            <a:xfrm>
              <a:off x="4300253" y="534550"/>
              <a:ext cx="4869677" cy="1212050"/>
              <a:chOff x="4300253" y="534550"/>
              <a:chExt cx="4869677" cy="1212050"/>
            </a:xfrm>
          </p:grpSpPr>
          <p:grpSp>
            <p:nvGrpSpPr>
              <p:cNvPr id="114" name="Google Shape;114;p17"/>
              <p:cNvGrpSpPr/>
              <p:nvPr/>
            </p:nvGrpSpPr>
            <p:grpSpPr>
              <a:xfrm>
                <a:off x="4300253" y="534550"/>
                <a:ext cx="2779450" cy="1212050"/>
                <a:chOff x="5096025" y="724600"/>
                <a:chExt cx="2977450" cy="1212050"/>
              </a:xfrm>
            </p:grpSpPr>
            <p:grpSp>
              <p:nvGrpSpPr>
                <p:cNvPr id="115" name="Google Shape;115;p17"/>
                <p:cNvGrpSpPr/>
                <p:nvPr/>
              </p:nvGrpSpPr>
              <p:grpSpPr>
                <a:xfrm>
                  <a:off x="5155375" y="724600"/>
                  <a:ext cx="2833100" cy="1212050"/>
                  <a:chOff x="5155375" y="724600"/>
                  <a:chExt cx="2833100" cy="1212050"/>
                </a:xfrm>
              </p:grpSpPr>
              <p:sp>
                <p:nvSpPr>
                  <p:cNvPr id="116" name="Google Shape;116;p17"/>
                  <p:cNvSpPr/>
                  <p:nvPr/>
                </p:nvSpPr>
                <p:spPr>
                  <a:xfrm>
                    <a:off x="5155375" y="72460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800"/>
                      <a:t>2</a:t>
                    </a:r>
                    <a:endParaRPr sz="1800"/>
                  </a:p>
                </p:txBody>
              </p:sp>
              <p:sp>
                <p:nvSpPr>
                  <p:cNvPr id="117" name="Google Shape;117;p17"/>
                  <p:cNvSpPr/>
                  <p:nvPr/>
                </p:nvSpPr>
                <p:spPr>
                  <a:xfrm>
                    <a:off x="7489575" y="142875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/>
                  </a:p>
                </p:txBody>
              </p:sp>
              <p:sp>
                <p:nvSpPr>
                  <p:cNvPr id="118" name="Google Shape;118;p17"/>
                  <p:cNvSpPr/>
                  <p:nvPr/>
                </p:nvSpPr>
                <p:spPr>
                  <a:xfrm>
                    <a:off x="6240125" y="142875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800"/>
                      <a:t>3</a:t>
                    </a:r>
                    <a:endParaRPr sz="1800"/>
                  </a:p>
                </p:txBody>
              </p:sp>
              <p:sp>
                <p:nvSpPr>
                  <p:cNvPr id="119" name="Google Shape;119;p17"/>
                  <p:cNvSpPr/>
                  <p:nvPr/>
                </p:nvSpPr>
                <p:spPr>
                  <a:xfrm>
                    <a:off x="7489575" y="72460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/>
                  </a:p>
                </p:txBody>
              </p:sp>
              <p:sp>
                <p:nvSpPr>
                  <p:cNvPr id="120" name="Google Shape;120;p17"/>
                  <p:cNvSpPr/>
                  <p:nvPr/>
                </p:nvSpPr>
                <p:spPr>
                  <a:xfrm>
                    <a:off x="6240125" y="72460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800"/>
                      <a:t>1</a:t>
                    </a:r>
                    <a:endParaRPr sz="1800"/>
                  </a:p>
                </p:txBody>
              </p:sp>
              <p:sp>
                <p:nvSpPr>
                  <p:cNvPr id="121" name="Google Shape;121;p17"/>
                  <p:cNvSpPr/>
                  <p:nvPr/>
                </p:nvSpPr>
                <p:spPr>
                  <a:xfrm>
                    <a:off x="5204650" y="142875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800"/>
                      <a:t>9</a:t>
                    </a:r>
                    <a:endParaRPr sz="1800"/>
                  </a:p>
                </p:txBody>
              </p:sp>
              <p:sp>
                <p:nvSpPr>
                  <p:cNvPr id="122" name="Google Shape;122;p17"/>
                  <p:cNvSpPr/>
                  <p:nvPr/>
                </p:nvSpPr>
                <p:spPr>
                  <a:xfrm>
                    <a:off x="5749350" y="1045325"/>
                    <a:ext cx="395700" cy="475200"/>
                  </a:xfrm>
                  <a:prstGeom prst="mathPlus">
                    <a:avLst>
                      <a:gd fmla="val 23520" name="adj1"/>
                    </a:avLst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17"/>
                  <p:cNvSpPr/>
                  <p:nvPr/>
                </p:nvSpPr>
                <p:spPr>
                  <a:xfrm>
                    <a:off x="6916450" y="1140425"/>
                    <a:ext cx="395700" cy="380100"/>
                  </a:xfrm>
                  <a:prstGeom prst="mathEqual">
                    <a:avLst>
                      <a:gd fmla="val 23520" name="adj1"/>
                      <a:gd fmla="val 11760" name="adj2"/>
                    </a:avLst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cxnSp>
              <p:nvCxnSpPr>
                <p:cNvPr id="124" name="Google Shape;124;p17"/>
                <p:cNvCxnSpPr/>
                <p:nvPr/>
              </p:nvCxnSpPr>
              <p:spPr>
                <a:xfrm rot="10800000">
                  <a:off x="5096025" y="1330625"/>
                  <a:ext cx="641400" cy="0"/>
                </a:xfrm>
                <a:prstGeom prst="straightConnector1">
                  <a:avLst/>
                </a:prstGeom>
                <a:noFill/>
                <a:ln cap="flat" cmpd="sng" w="1143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" name="Google Shape;125;p17"/>
                <p:cNvCxnSpPr/>
                <p:nvPr/>
              </p:nvCxnSpPr>
              <p:spPr>
                <a:xfrm rot="10800000">
                  <a:off x="6198725" y="1330625"/>
                  <a:ext cx="641400" cy="0"/>
                </a:xfrm>
                <a:prstGeom prst="straightConnector1">
                  <a:avLst/>
                </a:prstGeom>
                <a:noFill/>
                <a:ln cap="flat" cmpd="sng" w="1143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" name="Google Shape;126;p17"/>
                <p:cNvCxnSpPr/>
                <p:nvPr/>
              </p:nvCxnSpPr>
              <p:spPr>
                <a:xfrm rot="10800000">
                  <a:off x="7432075" y="1330625"/>
                  <a:ext cx="641400" cy="0"/>
                </a:xfrm>
                <a:prstGeom prst="straightConnector1">
                  <a:avLst/>
                </a:prstGeom>
                <a:noFill/>
                <a:ln cap="flat" cmpd="sng" w="1143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7" name="Google Shape;127;p17"/>
              <p:cNvGrpSpPr/>
              <p:nvPr/>
            </p:nvGrpSpPr>
            <p:grpSpPr>
              <a:xfrm>
                <a:off x="7079707" y="534550"/>
                <a:ext cx="2090223" cy="1212050"/>
                <a:chOff x="5749350" y="724600"/>
                <a:chExt cx="2239125" cy="1212050"/>
              </a:xfrm>
            </p:grpSpPr>
            <p:sp>
              <p:nvSpPr>
                <p:cNvPr id="128" name="Google Shape;128;p17"/>
                <p:cNvSpPr/>
                <p:nvPr/>
              </p:nvSpPr>
              <p:spPr>
                <a:xfrm>
                  <a:off x="7489575" y="1428750"/>
                  <a:ext cx="498900" cy="507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129" name="Google Shape;129;p17"/>
                <p:cNvSpPr/>
                <p:nvPr/>
              </p:nvSpPr>
              <p:spPr>
                <a:xfrm>
                  <a:off x="6240125" y="1428750"/>
                  <a:ext cx="498900" cy="507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130" name="Google Shape;130;p17"/>
                <p:cNvSpPr/>
                <p:nvPr/>
              </p:nvSpPr>
              <p:spPr>
                <a:xfrm>
                  <a:off x="7489575" y="724600"/>
                  <a:ext cx="498900" cy="507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131" name="Google Shape;131;p17"/>
                <p:cNvSpPr/>
                <p:nvPr/>
              </p:nvSpPr>
              <p:spPr>
                <a:xfrm>
                  <a:off x="6240125" y="724600"/>
                  <a:ext cx="498900" cy="5079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132" name="Google Shape;132;p17"/>
                <p:cNvSpPr/>
                <p:nvPr/>
              </p:nvSpPr>
              <p:spPr>
                <a:xfrm>
                  <a:off x="5749350" y="1045325"/>
                  <a:ext cx="395700" cy="475200"/>
                </a:xfrm>
                <a:prstGeom prst="mathPlus">
                  <a:avLst>
                    <a:gd fmla="val 23520" name="adj1"/>
                  </a:avLst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" name="Google Shape;133;p17"/>
                <p:cNvSpPr/>
                <p:nvPr/>
              </p:nvSpPr>
              <p:spPr>
                <a:xfrm>
                  <a:off x="6916450" y="1140425"/>
                  <a:ext cx="395700" cy="380100"/>
                </a:xfrm>
                <a:prstGeom prst="mathEqual">
                  <a:avLst>
                    <a:gd fmla="val 23520" name="adj1"/>
                    <a:gd fmla="val 11760" name="adj2"/>
                  </a:avLst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34" name="Google Shape;134;p17"/>
              <p:cNvCxnSpPr/>
              <p:nvPr/>
            </p:nvCxnSpPr>
            <p:spPr>
              <a:xfrm rot="10800000">
                <a:off x="7474653" y="1140575"/>
                <a:ext cx="598800" cy="0"/>
              </a:xfrm>
              <a:prstGeom prst="straightConnector1">
                <a:avLst/>
              </a:prstGeom>
              <a:noFill/>
              <a:ln cap="flat" cmpd="sng" w="1143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35" name="Google Shape;135;p17"/>
          <p:cNvSpPr txBox="1"/>
          <p:nvPr/>
        </p:nvSpPr>
        <p:spPr>
          <a:xfrm>
            <a:off x="4644600" y="3326050"/>
            <a:ext cx="41370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Complete the problem above by finding common denominators and then solve. Double tap inside the boxes to enter the numbers.</a:t>
            </a:r>
            <a:endParaRPr b="1" sz="1800"/>
          </a:p>
        </p:txBody>
      </p:sp>
      <p:grpSp>
        <p:nvGrpSpPr>
          <p:cNvPr id="136" name="Google Shape;136;p17"/>
          <p:cNvGrpSpPr/>
          <p:nvPr/>
        </p:nvGrpSpPr>
        <p:grpSpPr>
          <a:xfrm>
            <a:off x="4149653" y="1851075"/>
            <a:ext cx="4927475" cy="1212050"/>
            <a:chOff x="4369928" y="1862950"/>
            <a:chExt cx="4927475" cy="1212050"/>
          </a:xfrm>
        </p:grpSpPr>
        <p:grpSp>
          <p:nvGrpSpPr>
            <p:cNvPr id="137" name="Google Shape;137;p17"/>
            <p:cNvGrpSpPr/>
            <p:nvPr/>
          </p:nvGrpSpPr>
          <p:grpSpPr>
            <a:xfrm>
              <a:off x="4369928" y="1862950"/>
              <a:ext cx="4869677" cy="1212050"/>
              <a:chOff x="4369928" y="1862950"/>
              <a:chExt cx="4869677" cy="1212050"/>
            </a:xfrm>
          </p:grpSpPr>
          <p:grpSp>
            <p:nvGrpSpPr>
              <p:cNvPr id="138" name="Google Shape;138;p17"/>
              <p:cNvGrpSpPr/>
              <p:nvPr/>
            </p:nvGrpSpPr>
            <p:grpSpPr>
              <a:xfrm>
                <a:off x="4369928" y="1862950"/>
                <a:ext cx="4869677" cy="1212050"/>
                <a:chOff x="4300253" y="534550"/>
                <a:chExt cx="4869677" cy="1212050"/>
              </a:xfrm>
            </p:grpSpPr>
            <p:grpSp>
              <p:nvGrpSpPr>
                <p:cNvPr id="139" name="Google Shape;139;p17"/>
                <p:cNvGrpSpPr/>
                <p:nvPr/>
              </p:nvGrpSpPr>
              <p:grpSpPr>
                <a:xfrm>
                  <a:off x="4300253" y="534550"/>
                  <a:ext cx="2779450" cy="1212050"/>
                  <a:chOff x="5096025" y="724600"/>
                  <a:chExt cx="2977450" cy="1212050"/>
                </a:xfrm>
              </p:grpSpPr>
              <p:grpSp>
                <p:nvGrpSpPr>
                  <p:cNvPr id="140" name="Google Shape;140;p17"/>
                  <p:cNvGrpSpPr/>
                  <p:nvPr/>
                </p:nvGrpSpPr>
                <p:grpSpPr>
                  <a:xfrm>
                    <a:off x="5155375" y="724600"/>
                    <a:ext cx="2833100" cy="1212050"/>
                    <a:chOff x="5155375" y="724600"/>
                    <a:chExt cx="2833100" cy="1212050"/>
                  </a:xfrm>
                </p:grpSpPr>
                <p:sp>
                  <p:nvSpPr>
                    <p:cNvPr id="141" name="Google Shape;141;p17"/>
                    <p:cNvSpPr/>
                    <p:nvPr/>
                  </p:nvSpPr>
                  <p:spPr>
                    <a:xfrm>
                      <a:off x="5155375" y="724600"/>
                      <a:ext cx="498900" cy="5079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7</a:t>
                      </a:r>
                      <a:endParaRPr sz="1800"/>
                    </a:p>
                  </p:txBody>
                </p:sp>
                <p:sp>
                  <p:nvSpPr>
                    <p:cNvPr id="142" name="Google Shape;142;p17"/>
                    <p:cNvSpPr/>
                    <p:nvPr/>
                  </p:nvSpPr>
                  <p:spPr>
                    <a:xfrm>
                      <a:off x="7489575" y="1428750"/>
                      <a:ext cx="498900" cy="5079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p:txBody>
                </p:sp>
                <p:sp>
                  <p:nvSpPr>
                    <p:cNvPr id="143" name="Google Shape;143;p17"/>
                    <p:cNvSpPr/>
                    <p:nvPr/>
                  </p:nvSpPr>
                  <p:spPr>
                    <a:xfrm>
                      <a:off x="6240125" y="1428750"/>
                      <a:ext cx="498900" cy="5079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p:txBody>
                </p:sp>
                <p:sp>
                  <p:nvSpPr>
                    <p:cNvPr id="144" name="Google Shape;144;p17"/>
                    <p:cNvSpPr/>
                    <p:nvPr/>
                  </p:nvSpPr>
                  <p:spPr>
                    <a:xfrm>
                      <a:off x="7489575" y="724600"/>
                      <a:ext cx="498900" cy="5079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p:txBody>
                </p:sp>
                <p:sp>
                  <p:nvSpPr>
                    <p:cNvPr id="145" name="Google Shape;145;p17"/>
                    <p:cNvSpPr/>
                    <p:nvPr/>
                  </p:nvSpPr>
                  <p:spPr>
                    <a:xfrm>
                      <a:off x="6240125" y="724600"/>
                      <a:ext cx="498900" cy="5079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</a:t>
                      </a:r>
                      <a:endParaRPr sz="1800"/>
                    </a:p>
                  </p:txBody>
                </p:sp>
                <p:sp>
                  <p:nvSpPr>
                    <p:cNvPr id="146" name="Google Shape;146;p17"/>
                    <p:cNvSpPr/>
                    <p:nvPr/>
                  </p:nvSpPr>
                  <p:spPr>
                    <a:xfrm>
                      <a:off x="5204650" y="1428750"/>
                      <a:ext cx="498900" cy="5079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8</a:t>
                      </a:r>
                      <a:endParaRPr sz="1800"/>
                    </a:p>
                  </p:txBody>
                </p:sp>
                <p:sp>
                  <p:nvSpPr>
                    <p:cNvPr id="147" name="Google Shape;147;p17"/>
                    <p:cNvSpPr/>
                    <p:nvPr/>
                  </p:nvSpPr>
                  <p:spPr>
                    <a:xfrm>
                      <a:off x="6916450" y="1140425"/>
                      <a:ext cx="395700" cy="380100"/>
                    </a:xfrm>
                    <a:prstGeom prst="mathEqual">
                      <a:avLst>
                        <a:gd fmla="val 23520" name="adj1"/>
                        <a:gd fmla="val 11760" name="adj2"/>
                      </a:avLst>
                    </a:prstGeom>
                    <a:solidFill>
                      <a:schemeClr val="lt2"/>
                    </a:solidFill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cxnSp>
                <p:nvCxnSpPr>
                  <p:cNvPr id="148" name="Google Shape;148;p17"/>
                  <p:cNvCxnSpPr/>
                  <p:nvPr/>
                </p:nvCxnSpPr>
                <p:spPr>
                  <a:xfrm rot="10800000">
                    <a:off x="5096025" y="1330625"/>
                    <a:ext cx="641400" cy="0"/>
                  </a:xfrm>
                  <a:prstGeom prst="straightConnector1">
                    <a:avLst/>
                  </a:prstGeom>
                  <a:noFill/>
                  <a:ln cap="flat" cmpd="sng" w="1143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9" name="Google Shape;149;p17"/>
                  <p:cNvCxnSpPr/>
                  <p:nvPr/>
                </p:nvCxnSpPr>
                <p:spPr>
                  <a:xfrm rot="10800000">
                    <a:off x="6198725" y="1330625"/>
                    <a:ext cx="641400" cy="0"/>
                  </a:xfrm>
                  <a:prstGeom prst="straightConnector1">
                    <a:avLst/>
                  </a:prstGeom>
                  <a:noFill/>
                  <a:ln cap="flat" cmpd="sng" w="1143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50" name="Google Shape;150;p17"/>
                  <p:cNvCxnSpPr/>
                  <p:nvPr/>
                </p:nvCxnSpPr>
                <p:spPr>
                  <a:xfrm rot="10800000">
                    <a:off x="7432075" y="1330625"/>
                    <a:ext cx="641400" cy="0"/>
                  </a:xfrm>
                  <a:prstGeom prst="straightConnector1">
                    <a:avLst/>
                  </a:prstGeom>
                  <a:noFill/>
                  <a:ln cap="flat" cmpd="sng" w="1143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151" name="Google Shape;151;p17"/>
                <p:cNvGrpSpPr/>
                <p:nvPr/>
              </p:nvGrpSpPr>
              <p:grpSpPr>
                <a:xfrm>
                  <a:off x="7537845" y="534550"/>
                  <a:ext cx="1632085" cy="1212050"/>
                  <a:chOff x="6240125" y="724600"/>
                  <a:chExt cx="1748350" cy="1212050"/>
                </a:xfrm>
              </p:grpSpPr>
              <p:sp>
                <p:nvSpPr>
                  <p:cNvPr id="152" name="Google Shape;152;p17"/>
                  <p:cNvSpPr/>
                  <p:nvPr/>
                </p:nvSpPr>
                <p:spPr>
                  <a:xfrm>
                    <a:off x="7489575" y="142875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/>
                  </a:p>
                </p:txBody>
              </p:sp>
              <p:sp>
                <p:nvSpPr>
                  <p:cNvPr id="153" name="Google Shape;153;p17"/>
                  <p:cNvSpPr/>
                  <p:nvPr/>
                </p:nvSpPr>
                <p:spPr>
                  <a:xfrm>
                    <a:off x="6240125" y="142875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/>
                  </a:p>
                </p:txBody>
              </p:sp>
              <p:sp>
                <p:nvSpPr>
                  <p:cNvPr id="154" name="Google Shape;154;p17"/>
                  <p:cNvSpPr/>
                  <p:nvPr/>
                </p:nvSpPr>
                <p:spPr>
                  <a:xfrm>
                    <a:off x="7489575" y="72460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/>
                  </a:p>
                </p:txBody>
              </p:sp>
              <p:sp>
                <p:nvSpPr>
                  <p:cNvPr id="155" name="Google Shape;155;p17"/>
                  <p:cNvSpPr/>
                  <p:nvPr/>
                </p:nvSpPr>
                <p:spPr>
                  <a:xfrm>
                    <a:off x="6240125" y="724600"/>
                    <a:ext cx="498900" cy="5079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/>
                  </a:p>
                </p:txBody>
              </p:sp>
              <p:sp>
                <p:nvSpPr>
                  <p:cNvPr id="156" name="Google Shape;156;p17"/>
                  <p:cNvSpPr/>
                  <p:nvPr/>
                </p:nvSpPr>
                <p:spPr>
                  <a:xfrm>
                    <a:off x="6916450" y="1140425"/>
                    <a:ext cx="395700" cy="380100"/>
                  </a:xfrm>
                  <a:prstGeom prst="mathEqual">
                    <a:avLst>
                      <a:gd fmla="val 23520" name="adj1"/>
                      <a:gd fmla="val 11760" name="adj2"/>
                    </a:avLst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cxnSp>
              <p:nvCxnSpPr>
                <p:cNvPr id="157" name="Google Shape;157;p17"/>
                <p:cNvCxnSpPr/>
                <p:nvPr/>
              </p:nvCxnSpPr>
              <p:spPr>
                <a:xfrm rot="10800000">
                  <a:off x="7474653" y="1140575"/>
                  <a:ext cx="598800" cy="0"/>
                </a:xfrm>
                <a:prstGeom prst="straightConnector1">
                  <a:avLst/>
                </a:prstGeom>
                <a:noFill/>
                <a:ln cap="flat" cmpd="sng" w="1143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8" name="Google Shape;158;p17"/>
              <p:cNvSpPr/>
              <p:nvPr/>
            </p:nvSpPr>
            <p:spPr>
              <a:xfrm>
                <a:off x="4989075" y="2237375"/>
                <a:ext cx="356400" cy="463200"/>
              </a:xfrm>
              <a:prstGeom prst="mathMinus">
                <a:avLst>
                  <a:gd fmla="val 23520" name="adj1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7160875" y="2237375"/>
                <a:ext cx="356400" cy="463200"/>
              </a:xfrm>
              <a:prstGeom prst="mathMinus">
                <a:avLst>
                  <a:gd fmla="val 23520" name="adj1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0" name="Google Shape;160;p17"/>
            <p:cNvCxnSpPr/>
            <p:nvPr/>
          </p:nvCxnSpPr>
          <p:spPr>
            <a:xfrm rot="10800000">
              <a:off x="8698603" y="2468975"/>
              <a:ext cx="598800" cy="0"/>
            </a:xfrm>
            <a:prstGeom prst="straightConnector1">
              <a:avLst/>
            </a:prstGeom>
            <a:noFill/>
            <a:ln cap="flat" cmpd="sng" w="1143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12575" y="314400"/>
            <a:ext cx="3307500" cy="918000"/>
          </a:xfrm>
          <a:prstGeom prst="homePlate">
            <a:avLst>
              <a:gd fmla="val 50000" name="adj"/>
            </a:avLst>
          </a:prstGeom>
          <a:solidFill>
            <a:srgbClr val="FF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       </a:t>
            </a: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Explain</a:t>
            </a:r>
            <a:endParaRPr sz="6000"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5" y="59025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8338" y="2393425"/>
            <a:ext cx="3840925" cy="24005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18"/>
          <p:cNvSpPr txBox="1"/>
          <p:nvPr/>
        </p:nvSpPr>
        <p:spPr>
          <a:xfrm>
            <a:off x="4646800" y="261975"/>
            <a:ext cx="4357200" cy="1852500"/>
          </a:xfrm>
          <a:prstGeom prst="rect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Choices: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Use flipgrid to explain how to solve the problems.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Use the Alice Keeler webcam to record how to solve the problem.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Delete these words and type how to solve this problem.</a:t>
            </a:r>
            <a:endParaRPr b="1" sz="1600"/>
          </a:p>
        </p:txBody>
      </p:sp>
      <p:sp>
        <p:nvSpPr>
          <p:cNvPr id="169" name="Google Shape;169;p18"/>
          <p:cNvSpPr txBox="1"/>
          <p:nvPr/>
        </p:nvSpPr>
        <p:spPr>
          <a:xfrm>
            <a:off x="880300" y="3345150"/>
            <a:ext cx="226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 rotWithShape="1">
          <a:blip r:embed="rId7">
            <a:alphaModFix/>
          </a:blip>
          <a:srcRect b="46833" l="24738" r="65358" t="41293"/>
          <a:stretch/>
        </p:blipFill>
        <p:spPr>
          <a:xfrm>
            <a:off x="119825" y="1603400"/>
            <a:ext cx="2032426" cy="137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9825" y="3239275"/>
            <a:ext cx="2839575" cy="17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 rotWithShape="1">
          <a:blip r:embed="rId10">
            <a:alphaModFix/>
          </a:blip>
          <a:srcRect b="27039" l="23877" r="56005" t="58976"/>
          <a:stretch/>
        </p:blipFill>
        <p:spPr>
          <a:xfrm>
            <a:off x="2486525" y="1603400"/>
            <a:ext cx="2052470" cy="13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12575" y="314400"/>
            <a:ext cx="3307500" cy="918000"/>
          </a:xfrm>
          <a:prstGeom prst="homePlate">
            <a:avLst>
              <a:gd fmla="val 50000" name="adj"/>
            </a:avLst>
          </a:prstGeom>
          <a:solidFill>
            <a:srgbClr val="00FF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Sue Ellen Francisco"/>
                <a:ea typeface="Sue Ellen Francisco"/>
                <a:cs typeface="Sue Ellen Francisco"/>
                <a:sym typeface="Sue Ellen Francisco"/>
              </a:rPr>
              <a:t>       Create</a:t>
            </a:r>
            <a:endParaRPr sz="6000"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75" y="161825"/>
            <a:ext cx="1120275" cy="122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d-Job-2.gif" id="179" name="Google Shape;17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2819" y="283206"/>
            <a:ext cx="1379900" cy="13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675" y="2132975"/>
            <a:ext cx="3307500" cy="190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3539875" y="1936225"/>
            <a:ext cx="55356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Didact Gothic"/>
                <a:ea typeface="Didact Gothic"/>
                <a:cs typeface="Didact Gothic"/>
                <a:sym typeface="Didact Gothic"/>
              </a:rPr>
              <a:t>Go to SEESAW:</a:t>
            </a:r>
            <a:endParaRPr b="1"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Didact Gothic"/>
                <a:ea typeface="Didact Gothic"/>
                <a:cs typeface="Didact Gothic"/>
                <a:sym typeface="Didact Gothic"/>
              </a:rPr>
              <a:t>FIRST- </a:t>
            </a: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Create a real world story problem with a mixed fraction on a whiteboard or paper. </a:t>
            </a:r>
            <a:r>
              <a:rPr b="1" lang="en" sz="1800">
                <a:latin typeface="Didact Gothic"/>
                <a:ea typeface="Didact Gothic"/>
                <a:cs typeface="Didact Gothic"/>
                <a:sym typeface="Didact Gothic"/>
              </a:rPr>
              <a:t>THEN </a:t>
            </a: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choose one of the options below.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Char char="●"/>
            </a:pPr>
            <a:r>
              <a:rPr b="1" lang="en" sz="1800">
                <a:latin typeface="Didact Gothic"/>
                <a:ea typeface="Didact Gothic"/>
                <a:cs typeface="Didact Gothic"/>
                <a:sym typeface="Didact Gothic"/>
              </a:rPr>
              <a:t>Photo: </a:t>
            </a: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Take a photo of your story, then record how to solve it. 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Char char="●"/>
            </a:pPr>
            <a:r>
              <a:rPr b="1" lang="en" sz="1800">
                <a:latin typeface="Didact Gothic"/>
                <a:ea typeface="Didact Gothic"/>
                <a:cs typeface="Didact Gothic"/>
                <a:sym typeface="Didact Gothic"/>
              </a:rPr>
              <a:t>Video: </a:t>
            </a: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Take a video explaining how you solve your problem.  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8">
            <a:alphaModFix/>
          </a:blip>
          <a:srcRect b="48141" l="0" r="0" t="26141"/>
          <a:stretch/>
        </p:blipFill>
        <p:spPr>
          <a:xfrm>
            <a:off x="4622725" y="412826"/>
            <a:ext cx="4101300" cy="11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138" y="320900"/>
            <a:ext cx="1419575" cy="14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8115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9925" y="316313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4275" y="185738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3763" y="356235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388" y="341143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400" y="15240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52637" y="3616288"/>
            <a:ext cx="1320875" cy="13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90673" y="320900"/>
            <a:ext cx="1236275" cy="14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883663" y="3691750"/>
            <a:ext cx="1169975" cy="11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57700" y="1911313"/>
            <a:ext cx="1320875" cy="13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81150" y="1857375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6458725" y="920050"/>
            <a:ext cx="2525100" cy="4074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rPr>
              <a:t>All icons used in this template are from the Emoji One gallery, which are free to use with attribution.</a:t>
            </a:r>
            <a:endParaRPr sz="3300">
              <a:solidFill>
                <a:srgbClr val="FFFFFF"/>
              </a:solidFill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descr="EmojiOne   The Open Emoji Standard.png" id="200" name="Google Shape;200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624638" y="582575"/>
            <a:ext cx="2193275" cy="8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65a4c1cc7202b1a8a7e5ea31c13d3ab.jpg" id="205" name="Google Shape;205;p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475" y="110350"/>
            <a:ext cx="3197300" cy="46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644000" y="177275"/>
            <a:ext cx="5367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ue Ellen Francisco"/>
                <a:ea typeface="Sue Ellen Francisco"/>
                <a:cs typeface="Sue Ellen Francisco"/>
                <a:sym typeface="Sue Ellen Francisco"/>
              </a:rPr>
              <a:t>This template was inspired by </a:t>
            </a:r>
            <a:r>
              <a:rPr lang="en" sz="3000" u="sng">
                <a:solidFill>
                  <a:schemeClr val="hlink"/>
                </a:solidFill>
                <a:latin typeface="Sue Ellen Francisco"/>
                <a:ea typeface="Sue Ellen Francisco"/>
                <a:cs typeface="Sue Ellen Francisco"/>
                <a:sym typeface="Sue Ellen Francisco"/>
                <a:hlinkClick r:id="rId5"/>
              </a:rPr>
              <a:t>The Hyperdoc Handbook</a:t>
            </a:r>
            <a:r>
              <a:rPr lang="en" sz="3000">
                <a:latin typeface="Sue Ellen Francisco"/>
                <a:ea typeface="Sue Ellen Francisco"/>
                <a:cs typeface="Sue Ellen Francisco"/>
                <a:sym typeface="Sue Ellen Francisco"/>
              </a:rPr>
              <a:t> by Lisa Highfill, Kelly Hilton and Sarah Landis.</a:t>
            </a:r>
            <a:endParaRPr sz="3000"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25" y="4760150"/>
            <a:ext cx="9144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ue Ellen Francisco"/>
                <a:ea typeface="Sue Ellen Francisco"/>
                <a:cs typeface="Sue Ellen Francisco"/>
                <a:sym typeface="Sue Ellen Francisco"/>
              </a:rPr>
              <a:t>@nadinegilkison                                                                                                                                                                  </a:t>
            </a:r>
            <a:r>
              <a:rPr lang="en" u="sng">
                <a:solidFill>
                  <a:schemeClr val="hlink"/>
                </a:solidFill>
                <a:latin typeface="Sue Ellen Francisco"/>
                <a:ea typeface="Sue Ellen Francisco"/>
                <a:cs typeface="Sue Ellen Francisco"/>
                <a:sym typeface="Sue Ellen Francisco"/>
                <a:hlinkClick r:id="rId6"/>
              </a:rPr>
              <a:t>www.fttechtips.com</a:t>
            </a:r>
            <a:r>
              <a:rPr lang="en">
                <a:latin typeface="Sue Ellen Francisco"/>
                <a:ea typeface="Sue Ellen Francisco"/>
                <a:cs typeface="Sue Ellen Francisco"/>
                <a:sym typeface="Sue Ellen Francisco"/>
              </a:rPr>
              <a:t> </a:t>
            </a:r>
            <a:endParaRPr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1125" y="1345026"/>
            <a:ext cx="4270775" cy="176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50826" t="0"/>
          <a:stretch/>
        </p:blipFill>
        <p:spPr>
          <a:xfrm>
            <a:off x="3572401" y="3106700"/>
            <a:ext cx="2897026" cy="18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6369000" y="3106700"/>
            <a:ext cx="27750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ue Ellen Francisco"/>
                <a:ea typeface="Sue Ellen Francisco"/>
                <a:cs typeface="Sue Ellen Francisco"/>
                <a:sym typeface="Sue Ellen Francisco"/>
              </a:rPr>
              <a:t>#hyperdoc</a:t>
            </a:r>
            <a:endParaRPr sz="3000"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ue Ellen Francisco"/>
                <a:ea typeface="Sue Ellen Francisco"/>
                <a:cs typeface="Sue Ellen Francisco"/>
                <a:sym typeface="Sue Ellen Francisco"/>
              </a:rPr>
              <a:t>#TsGTs</a:t>
            </a:r>
            <a:endParaRPr sz="3000">
              <a:latin typeface="Sue Ellen Francisco"/>
              <a:ea typeface="Sue Ellen Francisco"/>
              <a:cs typeface="Sue Ellen Francisco"/>
              <a:sym typeface="Sue Ellen Francis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ue Ellen Francisco"/>
                <a:ea typeface="Sue Ellen Francisco"/>
                <a:cs typeface="Sue Ellen Francisco"/>
                <a:sym typeface="Sue Ellen Francisco"/>
              </a:rPr>
              <a:t>Join the Facebook and Google + groups</a:t>
            </a:r>
            <a:endParaRPr sz="3000">
              <a:latin typeface="Sue Ellen Francisco"/>
              <a:ea typeface="Sue Ellen Francisco"/>
              <a:cs typeface="Sue Ellen Francisco"/>
              <a:sym typeface="Sue Ellen Francis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